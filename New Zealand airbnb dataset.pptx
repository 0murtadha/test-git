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69C909-304D-4F81-8FDB-3178BF38C213}" type="doc">
      <dgm:prSet loTypeId="urn:microsoft.com/office/officeart/2005/8/layout/vList2" loCatId="list" qsTypeId="urn:microsoft.com/office/officeart/2005/8/quickstyle/simple1#14" qsCatId="simple" csTypeId="urn:microsoft.com/office/officeart/2005/8/colors/accent1_2#14" csCatId="accent1"/>
      <dgm:spPr/>
      <dgm:t>
        <a:bodyPr/>
        <a:lstStyle/>
        <a:p>
          <a:endParaRPr lang="en-US"/>
        </a:p>
      </dgm:t>
    </dgm:pt>
    <dgm:pt modelId="{70577AC2-4940-4CA8-8010-DAB98AEA02AB}">
      <dgm:prSet custT="1"/>
      <dgm:spPr/>
      <dgm:t>
        <a:bodyPr/>
        <a:lstStyle/>
        <a:p>
          <a:r>
            <a:rPr lang="en-GB" sz="2400" dirty="0"/>
            <a:t>1. What is the median price for the homes/</a:t>
          </a:r>
          <a:r>
            <a:rPr lang="en-GB" sz="2400" dirty="0" err="1"/>
            <a:t>apts</a:t>
          </a:r>
          <a:r>
            <a:rPr lang="en-GB" sz="2400" dirty="0"/>
            <a:t> and what is the percentage of high availability homes/</a:t>
          </a:r>
          <a:r>
            <a:rPr lang="en-GB" sz="2400" dirty="0" err="1"/>
            <a:t>apts</a:t>
          </a:r>
          <a:r>
            <a:rPr lang="en-GB" sz="2400" dirty="0"/>
            <a:t> that are above the median?</a:t>
          </a:r>
          <a:endParaRPr lang="en-US" sz="2400" dirty="0"/>
        </a:p>
      </dgm:t>
    </dgm:pt>
    <dgm:pt modelId="{23351F93-F2C8-4891-A98B-D46032D49CB8}" type="parTrans" cxnId="{EFDC13F9-43EB-47B9-B98C-CFC60EBC98E6}">
      <dgm:prSet/>
      <dgm:spPr/>
      <dgm:t>
        <a:bodyPr/>
        <a:lstStyle/>
        <a:p>
          <a:endParaRPr lang="en-US"/>
        </a:p>
      </dgm:t>
    </dgm:pt>
    <dgm:pt modelId="{AEBF6319-CCDA-4304-A217-33AE9262D249}" type="sibTrans" cxnId="{EFDC13F9-43EB-47B9-B98C-CFC60EBC98E6}">
      <dgm:prSet/>
      <dgm:spPr/>
      <dgm:t>
        <a:bodyPr/>
        <a:lstStyle/>
        <a:p>
          <a:endParaRPr lang="en-US"/>
        </a:p>
      </dgm:t>
    </dgm:pt>
    <dgm:pt modelId="{5BEC1BE5-1DC2-4989-BE3E-CF225A168513}">
      <dgm:prSet custT="1"/>
      <dgm:spPr/>
      <dgm:t>
        <a:bodyPr/>
        <a:lstStyle/>
        <a:p>
          <a:r>
            <a:rPr lang="en-GB" sz="2400" dirty="0"/>
            <a:t>2. What is the average reviews score of high availability homes/</a:t>
          </a:r>
          <a:r>
            <a:rPr lang="en-GB" sz="2400" dirty="0" err="1"/>
            <a:t>apts</a:t>
          </a:r>
          <a:r>
            <a:rPr lang="en-GB" sz="2400" dirty="0"/>
            <a:t> compared to the average reviews score for all homes/apt?</a:t>
          </a:r>
          <a:endParaRPr lang="en-US" sz="2400" dirty="0"/>
        </a:p>
      </dgm:t>
    </dgm:pt>
    <dgm:pt modelId="{4CC0DD6E-E403-4769-81C9-A9944E013D59}" type="parTrans" cxnId="{4D2C85E8-B249-484F-AE2B-6344535BFE24}">
      <dgm:prSet/>
      <dgm:spPr/>
      <dgm:t>
        <a:bodyPr/>
        <a:lstStyle/>
        <a:p>
          <a:endParaRPr lang="en-US"/>
        </a:p>
      </dgm:t>
    </dgm:pt>
    <dgm:pt modelId="{C5793730-7E43-4E9E-9A25-531D1F91F44F}" type="sibTrans" cxnId="{4D2C85E8-B249-484F-AE2B-6344535BFE24}">
      <dgm:prSet/>
      <dgm:spPr/>
      <dgm:t>
        <a:bodyPr/>
        <a:lstStyle/>
        <a:p>
          <a:endParaRPr lang="en-US"/>
        </a:p>
      </dgm:t>
    </dgm:pt>
    <dgm:pt modelId="{55A0715D-1D08-499D-ADCB-DF93C9ED60A6}">
      <dgm:prSet custT="1"/>
      <dgm:spPr/>
      <dgm:t>
        <a:bodyPr/>
        <a:lstStyle/>
        <a:p>
          <a:r>
            <a:rPr lang="en-GB" sz="2400" dirty="0"/>
            <a:t>3. What is the percentage of high availability homes/</a:t>
          </a:r>
          <a:r>
            <a:rPr lang="en-GB" sz="2400" dirty="0" err="1"/>
            <a:t>apts</a:t>
          </a:r>
          <a:r>
            <a:rPr lang="en-GB" sz="2400" dirty="0"/>
            <a:t> for each region?</a:t>
          </a:r>
          <a:endParaRPr lang="en-US" sz="2400" dirty="0"/>
        </a:p>
      </dgm:t>
    </dgm:pt>
    <dgm:pt modelId="{CAB86D5B-51A4-4CDF-AF3D-522F1EDF9C1D}" type="parTrans" cxnId="{89AEBB12-FAE7-4A81-9A06-2AB65C4F5672}">
      <dgm:prSet/>
      <dgm:spPr/>
      <dgm:t>
        <a:bodyPr/>
        <a:lstStyle/>
        <a:p>
          <a:endParaRPr lang="en-US"/>
        </a:p>
      </dgm:t>
    </dgm:pt>
    <dgm:pt modelId="{6666C8A0-BEAF-4226-B51E-F488083B2CD5}" type="sibTrans" cxnId="{89AEBB12-FAE7-4A81-9A06-2AB65C4F5672}">
      <dgm:prSet/>
      <dgm:spPr/>
      <dgm:t>
        <a:bodyPr/>
        <a:lstStyle/>
        <a:p>
          <a:endParaRPr lang="en-US"/>
        </a:p>
      </dgm:t>
    </dgm:pt>
    <dgm:pt modelId="{613715BF-7B5A-4851-A941-AB3C22085CD8}" type="pres">
      <dgm:prSet presAssocID="{B269C909-304D-4F81-8FDB-3178BF38C213}" presName="linear" presStyleCnt="0">
        <dgm:presLayoutVars>
          <dgm:animLvl val="lvl"/>
          <dgm:resizeHandles val="exact"/>
        </dgm:presLayoutVars>
      </dgm:prSet>
      <dgm:spPr/>
    </dgm:pt>
    <dgm:pt modelId="{783CF24A-6C52-4EF9-878A-C526616E2B62}" type="pres">
      <dgm:prSet presAssocID="{70577AC2-4940-4CA8-8010-DAB98AEA02A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A99ECA3-BD96-47EA-840A-E3C12390C73E}" type="pres">
      <dgm:prSet presAssocID="{AEBF6319-CCDA-4304-A217-33AE9262D249}" presName="spacer" presStyleCnt="0"/>
      <dgm:spPr/>
    </dgm:pt>
    <dgm:pt modelId="{4F6C75F2-B0C0-4372-8784-F7B20E05862F}" type="pres">
      <dgm:prSet presAssocID="{5BEC1BE5-1DC2-4989-BE3E-CF225A1685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A761AE2-9AD5-48AD-90F3-884EA9CD10EF}" type="pres">
      <dgm:prSet presAssocID="{C5793730-7E43-4E9E-9A25-531D1F91F44F}" presName="spacer" presStyleCnt="0"/>
      <dgm:spPr/>
    </dgm:pt>
    <dgm:pt modelId="{737660C4-E570-4908-9CF2-EC32C4559D57}" type="pres">
      <dgm:prSet presAssocID="{55A0715D-1D08-499D-ADCB-DF93C9ED60A6}" presName="parentText" presStyleLbl="node1" presStyleIdx="2" presStyleCnt="3" custLinFactY="-2644" custLinFactNeighborY="-100000">
        <dgm:presLayoutVars>
          <dgm:chMax val="0"/>
          <dgm:bulletEnabled val="1"/>
        </dgm:presLayoutVars>
      </dgm:prSet>
      <dgm:spPr/>
    </dgm:pt>
  </dgm:ptLst>
  <dgm:cxnLst>
    <dgm:cxn modelId="{89AEBB12-FAE7-4A81-9A06-2AB65C4F5672}" srcId="{B269C909-304D-4F81-8FDB-3178BF38C213}" destId="{55A0715D-1D08-499D-ADCB-DF93C9ED60A6}" srcOrd="2" destOrd="0" parTransId="{CAB86D5B-51A4-4CDF-AF3D-522F1EDF9C1D}" sibTransId="{6666C8A0-BEAF-4226-B51E-F488083B2CD5}"/>
    <dgm:cxn modelId="{20D82B2A-2D3F-4229-B19F-6A32339B4A98}" type="presOf" srcId="{55A0715D-1D08-499D-ADCB-DF93C9ED60A6}" destId="{737660C4-E570-4908-9CF2-EC32C4559D57}" srcOrd="0" destOrd="0" presId="urn:microsoft.com/office/officeart/2005/8/layout/vList2"/>
    <dgm:cxn modelId="{D5D7364F-B935-4D3E-A1EA-E152F9046070}" type="presOf" srcId="{B269C909-304D-4F81-8FDB-3178BF38C213}" destId="{613715BF-7B5A-4851-A941-AB3C22085CD8}" srcOrd="0" destOrd="0" presId="urn:microsoft.com/office/officeart/2005/8/layout/vList2"/>
    <dgm:cxn modelId="{91FD2AC9-61F2-4CC7-9E4C-E38BDCEAFCF2}" type="presOf" srcId="{5BEC1BE5-1DC2-4989-BE3E-CF225A168513}" destId="{4F6C75F2-B0C0-4372-8784-F7B20E05862F}" srcOrd="0" destOrd="0" presId="urn:microsoft.com/office/officeart/2005/8/layout/vList2"/>
    <dgm:cxn modelId="{BE8FC3D5-BE46-4347-8F6E-762F5614906B}" type="presOf" srcId="{70577AC2-4940-4CA8-8010-DAB98AEA02AB}" destId="{783CF24A-6C52-4EF9-878A-C526616E2B62}" srcOrd="0" destOrd="0" presId="urn:microsoft.com/office/officeart/2005/8/layout/vList2"/>
    <dgm:cxn modelId="{4D2C85E8-B249-484F-AE2B-6344535BFE24}" srcId="{B269C909-304D-4F81-8FDB-3178BF38C213}" destId="{5BEC1BE5-1DC2-4989-BE3E-CF225A168513}" srcOrd="1" destOrd="0" parTransId="{4CC0DD6E-E403-4769-81C9-A9944E013D59}" sibTransId="{C5793730-7E43-4E9E-9A25-531D1F91F44F}"/>
    <dgm:cxn modelId="{EFDC13F9-43EB-47B9-B98C-CFC60EBC98E6}" srcId="{B269C909-304D-4F81-8FDB-3178BF38C213}" destId="{70577AC2-4940-4CA8-8010-DAB98AEA02AB}" srcOrd="0" destOrd="0" parTransId="{23351F93-F2C8-4891-A98B-D46032D49CB8}" sibTransId="{AEBF6319-CCDA-4304-A217-33AE9262D249}"/>
    <dgm:cxn modelId="{FB3B4D36-23B9-4059-B706-5B99B5672547}" type="presParOf" srcId="{613715BF-7B5A-4851-A941-AB3C22085CD8}" destId="{783CF24A-6C52-4EF9-878A-C526616E2B62}" srcOrd="0" destOrd="0" presId="urn:microsoft.com/office/officeart/2005/8/layout/vList2"/>
    <dgm:cxn modelId="{2FD55EAC-AC47-4375-8D3B-767AE18936C6}" type="presParOf" srcId="{613715BF-7B5A-4851-A941-AB3C22085CD8}" destId="{CA99ECA3-BD96-47EA-840A-E3C12390C73E}" srcOrd="1" destOrd="0" presId="urn:microsoft.com/office/officeart/2005/8/layout/vList2"/>
    <dgm:cxn modelId="{729E91A3-5B95-4E49-935C-565D639BA661}" type="presParOf" srcId="{613715BF-7B5A-4851-A941-AB3C22085CD8}" destId="{4F6C75F2-B0C0-4372-8784-F7B20E05862F}" srcOrd="2" destOrd="0" presId="urn:microsoft.com/office/officeart/2005/8/layout/vList2"/>
    <dgm:cxn modelId="{7D91E0D4-47E8-4A9D-833C-F02BF5B9E8F5}" type="presParOf" srcId="{613715BF-7B5A-4851-A941-AB3C22085CD8}" destId="{DA761AE2-9AD5-48AD-90F3-884EA9CD10EF}" srcOrd="3" destOrd="0" presId="urn:microsoft.com/office/officeart/2005/8/layout/vList2"/>
    <dgm:cxn modelId="{E1F9D91F-27D2-4A90-B2BE-A3BBDD112C47}" type="presParOf" srcId="{613715BF-7B5A-4851-A941-AB3C22085CD8}" destId="{737660C4-E570-4908-9CF2-EC32C4559D5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69C909-304D-4F81-8FDB-3178BF38C213}" type="doc">
      <dgm:prSet loTypeId="urn:microsoft.com/office/officeart/2005/8/layout/vList2" loCatId="list" qsTypeId="urn:microsoft.com/office/officeart/2005/8/quickstyle/simple1#14" qsCatId="simple" csTypeId="urn:microsoft.com/office/officeart/2005/8/colors/accent1_2#14" csCatId="accent1" phldr="1"/>
      <dgm:spPr/>
      <dgm:t>
        <a:bodyPr/>
        <a:lstStyle/>
        <a:p>
          <a:endParaRPr lang="en-US"/>
        </a:p>
      </dgm:t>
    </dgm:pt>
    <dgm:pt modelId="{70577AC2-4940-4CA8-8010-DAB98AEA02AB}">
      <dgm:prSet custT="1"/>
      <dgm:spPr/>
      <dgm:t>
        <a:bodyPr/>
        <a:lstStyle/>
        <a:p>
          <a:r>
            <a:rPr lang="en-GB" sz="2400" dirty="0"/>
            <a:t>1. Only 50.9% of high availability homes/</a:t>
          </a:r>
          <a:r>
            <a:rPr lang="en-GB" sz="2400" dirty="0" err="1"/>
            <a:t>apts</a:t>
          </a:r>
          <a:r>
            <a:rPr lang="en-GB" sz="2400" dirty="0"/>
            <a:t> are above the median so the price dose not effect availability that much. </a:t>
          </a:r>
          <a:endParaRPr lang="en-US" sz="2400" dirty="0"/>
        </a:p>
      </dgm:t>
    </dgm:pt>
    <dgm:pt modelId="{23351F93-F2C8-4891-A98B-D46032D49CB8}" type="parTrans" cxnId="{EFDC13F9-43EB-47B9-B98C-CFC60EBC98E6}">
      <dgm:prSet/>
      <dgm:spPr/>
      <dgm:t>
        <a:bodyPr/>
        <a:lstStyle/>
        <a:p>
          <a:endParaRPr lang="en-US"/>
        </a:p>
      </dgm:t>
    </dgm:pt>
    <dgm:pt modelId="{AEBF6319-CCDA-4304-A217-33AE9262D249}" type="sibTrans" cxnId="{EFDC13F9-43EB-47B9-B98C-CFC60EBC98E6}">
      <dgm:prSet/>
      <dgm:spPr/>
      <dgm:t>
        <a:bodyPr/>
        <a:lstStyle/>
        <a:p>
          <a:endParaRPr lang="en-US"/>
        </a:p>
      </dgm:t>
    </dgm:pt>
    <dgm:pt modelId="{5BEC1BE5-1DC2-4989-BE3E-CF225A168513}">
      <dgm:prSet custT="1"/>
      <dgm:spPr/>
      <dgm:t>
        <a:bodyPr/>
        <a:lstStyle/>
        <a:p>
          <a:r>
            <a:rPr lang="en-GB" sz="2400" dirty="0"/>
            <a:t>2. The average review score of high availability homes/</a:t>
          </a:r>
          <a:r>
            <a:rPr lang="en-GB" sz="2400" dirty="0" err="1"/>
            <a:t>apts</a:t>
          </a:r>
          <a:r>
            <a:rPr lang="en-GB" sz="2400" dirty="0"/>
            <a:t> is 4.82 and the average review score for all homes/</a:t>
          </a:r>
          <a:r>
            <a:rPr lang="en-GB" sz="2400" dirty="0" err="1"/>
            <a:t>apts</a:t>
          </a:r>
          <a:r>
            <a:rPr lang="en-GB" sz="2400" dirty="0"/>
            <a:t> is 4.85. The difference is not large so the review score do not effect availability.</a:t>
          </a:r>
          <a:endParaRPr lang="en-US" sz="2400" dirty="0"/>
        </a:p>
      </dgm:t>
    </dgm:pt>
    <dgm:pt modelId="{4CC0DD6E-E403-4769-81C9-A9944E013D59}" type="parTrans" cxnId="{4D2C85E8-B249-484F-AE2B-6344535BFE24}">
      <dgm:prSet/>
      <dgm:spPr/>
      <dgm:t>
        <a:bodyPr/>
        <a:lstStyle/>
        <a:p>
          <a:endParaRPr lang="en-US"/>
        </a:p>
      </dgm:t>
    </dgm:pt>
    <dgm:pt modelId="{C5793730-7E43-4E9E-9A25-531D1F91F44F}" type="sibTrans" cxnId="{4D2C85E8-B249-484F-AE2B-6344535BFE24}">
      <dgm:prSet/>
      <dgm:spPr/>
      <dgm:t>
        <a:bodyPr/>
        <a:lstStyle/>
        <a:p>
          <a:endParaRPr lang="en-US"/>
        </a:p>
      </dgm:t>
    </dgm:pt>
    <dgm:pt modelId="{55A0715D-1D08-499D-ADCB-DF93C9ED60A6}">
      <dgm:prSet custT="1"/>
      <dgm:spPr/>
      <dgm:t>
        <a:bodyPr/>
        <a:lstStyle/>
        <a:p>
          <a:r>
            <a:rPr lang="en-GB" sz="2400" dirty="0"/>
            <a:t>3. Rent home/</a:t>
          </a:r>
          <a:r>
            <a:rPr lang="en-GB" sz="2400" dirty="0" err="1"/>
            <a:t>apts</a:t>
          </a:r>
          <a:r>
            <a:rPr lang="en-GB" sz="2400" dirty="0"/>
            <a:t> in </a:t>
          </a:r>
          <a:r>
            <a:rPr lang="en-GB" sz="2400"/>
            <a:t>regions with lower </a:t>
          </a:r>
          <a:r>
            <a:rPr lang="en-GB" sz="2400" dirty="0"/>
            <a:t>high availability homes/</a:t>
          </a:r>
          <a:r>
            <a:rPr lang="en-GB" sz="2400" dirty="0" err="1"/>
            <a:t>apts</a:t>
          </a:r>
          <a:r>
            <a:rPr lang="en-GB" sz="2400" dirty="0"/>
            <a:t> percentage.</a:t>
          </a:r>
          <a:endParaRPr lang="en-US" sz="2400" dirty="0"/>
        </a:p>
      </dgm:t>
    </dgm:pt>
    <dgm:pt modelId="{CAB86D5B-51A4-4CDF-AF3D-522F1EDF9C1D}" type="parTrans" cxnId="{89AEBB12-FAE7-4A81-9A06-2AB65C4F5672}">
      <dgm:prSet/>
      <dgm:spPr/>
      <dgm:t>
        <a:bodyPr/>
        <a:lstStyle/>
        <a:p>
          <a:endParaRPr lang="en-US"/>
        </a:p>
      </dgm:t>
    </dgm:pt>
    <dgm:pt modelId="{6666C8A0-BEAF-4226-B51E-F488083B2CD5}" type="sibTrans" cxnId="{89AEBB12-FAE7-4A81-9A06-2AB65C4F5672}">
      <dgm:prSet/>
      <dgm:spPr/>
      <dgm:t>
        <a:bodyPr/>
        <a:lstStyle/>
        <a:p>
          <a:endParaRPr lang="en-US"/>
        </a:p>
      </dgm:t>
    </dgm:pt>
    <dgm:pt modelId="{613715BF-7B5A-4851-A941-AB3C22085CD8}" type="pres">
      <dgm:prSet presAssocID="{B269C909-304D-4F81-8FDB-3178BF38C213}" presName="linear" presStyleCnt="0">
        <dgm:presLayoutVars>
          <dgm:animLvl val="lvl"/>
          <dgm:resizeHandles val="exact"/>
        </dgm:presLayoutVars>
      </dgm:prSet>
      <dgm:spPr/>
    </dgm:pt>
    <dgm:pt modelId="{783CF24A-6C52-4EF9-878A-C526616E2B62}" type="pres">
      <dgm:prSet presAssocID="{70577AC2-4940-4CA8-8010-DAB98AEA02A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A99ECA3-BD96-47EA-840A-E3C12390C73E}" type="pres">
      <dgm:prSet presAssocID="{AEBF6319-CCDA-4304-A217-33AE9262D249}" presName="spacer" presStyleCnt="0"/>
      <dgm:spPr/>
    </dgm:pt>
    <dgm:pt modelId="{4F6C75F2-B0C0-4372-8784-F7B20E05862F}" type="pres">
      <dgm:prSet presAssocID="{5BEC1BE5-1DC2-4989-BE3E-CF225A168513}" presName="parentText" presStyleLbl="node1" presStyleIdx="1" presStyleCnt="3" custLinFactNeighborY="-77229">
        <dgm:presLayoutVars>
          <dgm:chMax val="0"/>
          <dgm:bulletEnabled val="1"/>
        </dgm:presLayoutVars>
      </dgm:prSet>
      <dgm:spPr/>
    </dgm:pt>
    <dgm:pt modelId="{DA761AE2-9AD5-48AD-90F3-884EA9CD10EF}" type="pres">
      <dgm:prSet presAssocID="{C5793730-7E43-4E9E-9A25-531D1F91F44F}" presName="spacer" presStyleCnt="0"/>
      <dgm:spPr/>
    </dgm:pt>
    <dgm:pt modelId="{737660C4-E570-4908-9CF2-EC32C4559D57}" type="pres">
      <dgm:prSet presAssocID="{55A0715D-1D08-499D-ADCB-DF93C9ED60A6}" presName="parentText" presStyleLbl="node1" presStyleIdx="2" presStyleCnt="3" custLinFactY="-2644" custLinFactNeighborY="-100000">
        <dgm:presLayoutVars>
          <dgm:chMax val="0"/>
          <dgm:bulletEnabled val="1"/>
        </dgm:presLayoutVars>
      </dgm:prSet>
      <dgm:spPr/>
    </dgm:pt>
  </dgm:ptLst>
  <dgm:cxnLst>
    <dgm:cxn modelId="{89AEBB12-FAE7-4A81-9A06-2AB65C4F5672}" srcId="{B269C909-304D-4F81-8FDB-3178BF38C213}" destId="{55A0715D-1D08-499D-ADCB-DF93C9ED60A6}" srcOrd="2" destOrd="0" parTransId="{CAB86D5B-51A4-4CDF-AF3D-522F1EDF9C1D}" sibTransId="{6666C8A0-BEAF-4226-B51E-F488083B2CD5}"/>
    <dgm:cxn modelId="{20D82B2A-2D3F-4229-B19F-6A32339B4A98}" type="presOf" srcId="{55A0715D-1D08-499D-ADCB-DF93C9ED60A6}" destId="{737660C4-E570-4908-9CF2-EC32C4559D57}" srcOrd="0" destOrd="0" presId="urn:microsoft.com/office/officeart/2005/8/layout/vList2"/>
    <dgm:cxn modelId="{D5D7364F-B935-4D3E-A1EA-E152F9046070}" type="presOf" srcId="{B269C909-304D-4F81-8FDB-3178BF38C213}" destId="{613715BF-7B5A-4851-A941-AB3C22085CD8}" srcOrd="0" destOrd="0" presId="urn:microsoft.com/office/officeart/2005/8/layout/vList2"/>
    <dgm:cxn modelId="{91FD2AC9-61F2-4CC7-9E4C-E38BDCEAFCF2}" type="presOf" srcId="{5BEC1BE5-1DC2-4989-BE3E-CF225A168513}" destId="{4F6C75F2-B0C0-4372-8784-F7B20E05862F}" srcOrd="0" destOrd="0" presId="urn:microsoft.com/office/officeart/2005/8/layout/vList2"/>
    <dgm:cxn modelId="{BE8FC3D5-BE46-4347-8F6E-762F5614906B}" type="presOf" srcId="{70577AC2-4940-4CA8-8010-DAB98AEA02AB}" destId="{783CF24A-6C52-4EF9-878A-C526616E2B62}" srcOrd="0" destOrd="0" presId="urn:microsoft.com/office/officeart/2005/8/layout/vList2"/>
    <dgm:cxn modelId="{4D2C85E8-B249-484F-AE2B-6344535BFE24}" srcId="{B269C909-304D-4F81-8FDB-3178BF38C213}" destId="{5BEC1BE5-1DC2-4989-BE3E-CF225A168513}" srcOrd="1" destOrd="0" parTransId="{4CC0DD6E-E403-4769-81C9-A9944E013D59}" sibTransId="{C5793730-7E43-4E9E-9A25-531D1F91F44F}"/>
    <dgm:cxn modelId="{EFDC13F9-43EB-47B9-B98C-CFC60EBC98E6}" srcId="{B269C909-304D-4F81-8FDB-3178BF38C213}" destId="{70577AC2-4940-4CA8-8010-DAB98AEA02AB}" srcOrd="0" destOrd="0" parTransId="{23351F93-F2C8-4891-A98B-D46032D49CB8}" sibTransId="{AEBF6319-CCDA-4304-A217-33AE9262D249}"/>
    <dgm:cxn modelId="{FB3B4D36-23B9-4059-B706-5B99B5672547}" type="presParOf" srcId="{613715BF-7B5A-4851-A941-AB3C22085CD8}" destId="{783CF24A-6C52-4EF9-878A-C526616E2B62}" srcOrd="0" destOrd="0" presId="urn:microsoft.com/office/officeart/2005/8/layout/vList2"/>
    <dgm:cxn modelId="{2FD55EAC-AC47-4375-8D3B-767AE18936C6}" type="presParOf" srcId="{613715BF-7B5A-4851-A941-AB3C22085CD8}" destId="{CA99ECA3-BD96-47EA-840A-E3C12390C73E}" srcOrd="1" destOrd="0" presId="urn:microsoft.com/office/officeart/2005/8/layout/vList2"/>
    <dgm:cxn modelId="{729E91A3-5B95-4E49-935C-565D639BA661}" type="presParOf" srcId="{613715BF-7B5A-4851-A941-AB3C22085CD8}" destId="{4F6C75F2-B0C0-4372-8784-F7B20E05862F}" srcOrd="2" destOrd="0" presId="urn:microsoft.com/office/officeart/2005/8/layout/vList2"/>
    <dgm:cxn modelId="{7D91E0D4-47E8-4A9D-833C-F02BF5B9E8F5}" type="presParOf" srcId="{613715BF-7B5A-4851-A941-AB3C22085CD8}" destId="{DA761AE2-9AD5-48AD-90F3-884EA9CD10EF}" srcOrd="3" destOrd="0" presId="urn:microsoft.com/office/officeart/2005/8/layout/vList2"/>
    <dgm:cxn modelId="{E1F9D91F-27D2-4A90-B2BE-A3BBDD112C47}" type="presParOf" srcId="{613715BF-7B5A-4851-A941-AB3C22085CD8}" destId="{737660C4-E570-4908-9CF2-EC32C4559D5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CF24A-6C52-4EF9-878A-C526616E2B62}">
      <dsp:nvSpPr>
        <dsp:cNvPr id="0" name=""/>
        <dsp:cNvSpPr/>
      </dsp:nvSpPr>
      <dsp:spPr>
        <a:xfrm>
          <a:off x="0" y="767"/>
          <a:ext cx="11309859" cy="9200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1. What is the median price for the homes/</a:t>
          </a:r>
          <a:r>
            <a:rPr lang="en-GB" sz="2400" kern="1200" dirty="0" err="1"/>
            <a:t>apts</a:t>
          </a:r>
          <a:r>
            <a:rPr lang="en-GB" sz="2400" kern="1200" dirty="0"/>
            <a:t> and what is the percentage of high availability homes/</a:t>
          </a:r>
          <a:r>
            <a:rPr lang="en-GB" sz="2400" kern="1200" dirty="0" err="1"/>
            <a:t>apts</a:t>
          </a:r>
          <a:r>
            <a:rPr lang="en-GB" sz="2400" kern="1200" dirty="0"/>
            <a:t> that are above the median?</a:t>
          </a:r>
          <a:endParaRPr lang="en-US" sz="2400" kern="1200" dirty="0"/>
        </a:p>
      </dsp:txBody>
      <dsp:txXfrm>
        <a:off x="44913" y="45680"/>
        <a:ext cx="11220033" cy="830223"/>
      </dsp:txXfrm>
    </dsp:sp>
    <dsp:sp modelId="{4F6C75F2-B0C0-4372-8784-F7B20E05862F}">
      <dsp:nvSpPr>
        <dsp:cNvPr id="0" name=""/>
        <dsp:cNvSpPr/>
      </dsp:nvSpPr>
      <dsp:spPr>
        <a:xfrm>
          <a:off x="0" y="934626"/>
          <a:ext cx="11309859" cy="9200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2. What is the average reviews score of high availability homes/</a:t>
          </a:r>
          <a:r>
            <a:rPr lang="en-GB" sz="2400" kern="1200" dirty="0" err="1"/>
            <a:t>apts</a:t>
          </a:r>
          <a:r>
            <a:rPr lang="en-GB" sz="2400" kern="1200" dirty="0"/>
            <a:t> compared to the average reviews score for all homes/apt?</a:t>
          </a:r>
          <a:endParaRPr lang="en-US" sz="2400" kern="1200" dirty="0"/>
        </a:p>
      </dsp:txBody>
      <dsp:txXfrm>
        <a:off x="44913" y="979539"/>
        <a:ext cx="11220033" cy="830223"/>
      </dsp:txXfrm>
    </dsp:sp>
    <dsp:sp modelId="{737660C4-E570-4908-9CF2-EC32C4559D57}">
      <dsp:nvSpPr>
        <dsp:cNvPr id="0" name=""/>
        <dsp:cNvSpPr/>
      </dsp:nvSpPr>
      <dsp:spPr>
        <a:xfrm>
          <a:off x="0" y="1830349"/>
          <a:ext cx="11309859" cy="9200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3. What is the percentage of high availability homes/</a:t>
          </a:r>
          <a:r>
            <a:rPr lang="en-GB" sz="2400" kern="1200" dirty="0" err="1"/>
            <a:t>apts</a:t>
          </a:r>
          <a:r>
            <a:rPr lang="en-GB" sz="2400" kern="1200" dirty="0"/>
            <a:t> for each region?</a:t>
          </a:r>
          <a:endParaRPr lang="en-US" sz="2400" kern="1200" dirty="0"/>
        </a:p>
      </dsp:txBody>
      <dsp:txXfrm>
        <a:off x="44913" y="1875262"/>
        <a:ext cx="11220033" cy="8302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CF24A-6C52-4EF9-878A-C526616E2B62}">
      <dsp:nvSpPr>
        <dsp:cNvPr id="0" name=""/>
        <dsp:cNvSpPr/>
      </dsp:nvSpPr>
      <dsp:spPr>
        <a:xfrm>
          <a:off x="0" y="8208"/>
          <a:ext cx="11803508" cy="1339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1. Only 50.9% of high availability homes/</a:t>
          </a:r>
          <a:r>
            <a:rPr lang="en-GB" sz="2400" kern="1200" dirty="0" err="1"/>
            <a:t>apts</a:t>
          </a:r>
          <a:r>
            <a:rPr lang="en-GB" sz="2400" kern="1200" dirty="0"/>
            <a:t> are above the median so the price dose not effect availability that much. </a:t>
          </a:r>
          <a:endParaRPr lang="en-US" sz="2400" kern="1200" dirty="0"/>
        </a:p>
      </dsp:txBody>
      <dsp:txXfrm>
        <a:off x="65378" y="73586"/>
        <a:ext cx="11672752" cy="1208528"/>
      </dsp:txXfrm>
    </dsp:sp>
    <dsp:sp modelId="{4F6C75F2-B0C0-4372-8784-F7B20E05862F}">
      <dsp:nvSpPr>
        <dsp:cNvPr id="0" name=""/>
        <dsp:cNvSpPr/>
      </dsp:nvSpPr>
      <dsp:spPr>
        <a:xfrm>
          <a:off x="0" y="1371757"/>
          <a:ext cx="11803508" cy="1339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2. The average review score of high availability homes/</a:t>
          </a:r>
          <a:r>
            <a:rPr lang="en-GB" sz="2400" kern="1200" dirty="0" err="1"/>
            <a:t>apts</a:t>
          </a:r>
          <a:r>
            <a:rPr lang="en-GB" sz="2400" kern="1200" dirty="0"/>
            <a:t> is 4.82 and the average review score for all homes/</a:t>
          </a:r>
          <a:r>
            <a:rPr lang="en-GB" sz="2400" kern="1200" dirty="0" err="1"/>
            <a:t>apts</a:t>
          </a:r>
          <a:r>
            <a:rPr lang="en-GB" sz="2400" kern="1200" dirty="0"/>
            <a:t> is 4.85. The difference is not large so the review score do not effect availability.</a:t>
          </a:r>
          <a:endParaRPr lang="en-US" sz="2400" kern="1200" dirty="0"/>
        </a:p>
      </dsp:txBody>
      <dsp:txXfrm>
        <a:off x="65378" y="1437135"/>
        <a:ext cx="11672752" cy="1208528"/>
      </dsp:txXfrm>
    </dsp:sp>
    <dsp:sp modelId="{737660C4-E570-4908-9CF2-EC32C4559D57}">
      <dsp:nvSpPr>
        <dsp:cNvPr id="0" name=""/>
        <dsp:cNvSpPr/>
      </dsp:nvSpPr>
      <dsp:spPr>
        <a:xfrm>
          <a:off x="0" y="2757926"/>
          <a:ext cx="11803508" cy="1339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3. Rent home/</a:t>
          </a:r>
          <a:r>
            <a:rPr lang="en-GB" sz="2400" kern="1200" dirty="0" err="1"/>
            <a:t>apts</a:t>
          </a:r>
          <a:r>
            <a:rPr lang="en-GB" sz="2400" kern="1200" dirty="0"/>
            <a:t> in </a:t>
          </a:r>
          <a:r>
            <a:rPr lang="en-GB" sz="2400" kern="1200"/>
            <a:t>regions with lower </a:t>
          </a:r>
          <a:r>
            <a:rPr lang="en-GB" sz="2400" kern="1200" dirty="0"/>
            <a:t>high availability homes/</a:t>
          </a:r>
          <a:r>
            <a:rPr lang="en-GB" sz="2400" kern="1200" dirty="0" err="1"/>
            <a:t>apts</a:t>
          </a:r>
          <a:r>
            <a:rPr lang="en-GB" sz="2400" kern="1200" dirty="0"/>
            <a:t> percentage.</a:t>
          </a:r>
          <a:endParaRPr lang="en-US" sz="2400" kern="1200" dirty="0"/>
        </a:p>
      </dsp:txBody>
      <dsp:txXfrm>
        <a:off x="65378" y="2823304"/>
        <a:ext cx="11672752" cy="1208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E40B-B0CD-9261-9072-A416FCB70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259CD-2F12-5BA6-F637-97E326FA1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2CE09-899F-42FE-A9AD-5AEFED5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BD01C-74E5-6218-1814-A3E74BBA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1577D-BE22-D97D-4A7B-520F4F2B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06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689E-4E33-D059-C3DA-597E9C87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3C400-6E93-2DB0-C7AA-B1ADABCCA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26D01-138A-E641-E8A2-996E4E69A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306B-63D8-DA3D-4AC8-FCEF7757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B9917-7E2F-78FB-48CF-05398C9E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65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F188-C122-0271-4BE2-FFC48FD3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4A650-B4E5-4014-2B4B-4281CEB57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00FD6-675F-096F-806C-50F762DC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E437-AEF7-60B9-1DB6-D495C76A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BF798-CEE6-B806-67EF-EB78DCF4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124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9AFC-E62E-5F6E-114A-D6F10EC2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0C91D-60B2-29AD-82C9-393876CDD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29513-D4AC-9794-D503-71BFC28AA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F858E-9168-F70B-8DD1-837D7A87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EC6A6-05D5-2773-5EE4-A264F790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EF512-A2D3-3CC7-02FA-4E1417D6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66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4E5C-9CFE-3AAA-E5D2-6388B8182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7C0DA-ED41-798A-0256-EF0EA30B2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500C8-B43A-5D1F-B4C1-5A75C2FAF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9BFF0-A6B2-A494-356E-FC5BDBE27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66BB0-8AC1-E027-850C-C2B60061A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DB43C-15E8-FE10-CF36-548E4F24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66DC6-41CF-4D32-4D89-25A65144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A3206-80BA-FD19-2F43-1BF329F03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79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0A53-6020-7AB8-C861-E1F2F034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C35D9-08E1-B374-4DC5-5F7801E8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B456D-4237-D3D3-E3BA-CB6B3F5E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D5D2B-E2BD-2927-6573-06BEFBD7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44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2FEB61-4C98-226C-DA54-BA54B9E2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405403-6023-B398-CF36-E70F5BF3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802AF-1ABA-BA84-22BF-21E86E35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06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417C-9ADD-8245-1DB8-C4874CA8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CC3AD-C9F5-2FD3-725D-1D6DA3DF9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D4ECC-73C2-63B4-27FB-6AF4E7C58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35AA9-A192-F4D2-3AB0-695FA7A4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A8115-D081-6AAE-0828-937359EAD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9C308-7288-DA89-F29C-97993A64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2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885B7-79B0-068A-6618-D0FC0D714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282D6D-0648-556B-1D0C-0D91D5DEB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1DDCC-AEED-8689-354F-17F154FD2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D089B-3949-CBA1-4C10-47F2A9E7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16CB1-5603-EC83-75FB-669A7747C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2F524-F866-5000-B1A3-C8551811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32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FD18-606D-972F-B811-C020C3A49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FA140-D587-ED2F-FF4F-73E9B4337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41FFD-4E02-4EC4-C414-17B577468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5CC8E-EF9E-A1E2-C387-FA6D781D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A7360-EC6B-3F80-9A40-008B0D00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135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982D35-E876-FF28-F1BF-7FC99F9BC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CD33B-25D7-7AC5-397C-CAEBF278D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8AB83-E5A4-3A70-E2A4-481417E36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1F5B0-002B-A194-10ED-2201B7B7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2F66C-47E6-1B95-15A0-214A9B540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448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8231F-80CE-96E4-D269-4ED5817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4C3AA-2C60-5F3A-609D-0BD7C2405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96252-A205-AA71-6296-09097E077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1FF56-2731-44E8-B6AE-A4AC32DE838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DBAB5-E534-78F2-D6D7-705FEFCBC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4BDA6-3B0B-C33C-06D4-FFBDA3600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95972-0A94-4538-90B5-F4F4CF4E09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53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552BE-7734-C057-987E-6FDCCA2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New Zealand Airbnb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202D0-A735-5A4A-18DA-F6058BFC9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sz="4400" dirty="0"/>
              <a:t>Prepared by: Murtadha</a:t>
            </a:r>
          </a:p>
        </p:txBody>
      </p:sp>
    </p:spTree>
    <p:extLst>
      <p:ext uri="{BB962C8B-B14F-4D97-AF65-F5344CB8AC3E}">
        <p14:creationId xmlns:p14="http://schemas.microsoft.com/office/powerpoint/2010/main" val="209230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1266A-5193-BE8B-9496-B2BF657D9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FE6A7-AFDC-0975-D558-475CEE51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43.0% of homes/apartments are available for 250 days of the next year.  This leads to a low or negative revenue which leaves the owner barely any profit or no profit at all.</a:t>
            </a:r>
          </a:p>
        </p:txBody>
      </p:sp>
    </p:spTree>
    <p:extLst>
      <p:ext uri="{BB962C8B-B14F-4D97-AF65-F5344CB8AC3E}">
        <p14:creationId xmlns:p14="http://schemas.microsoft.com/office/powerpoint/2010/main" val="1782276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C5739-5CF7-B1A7-3363-0798104E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42" y="667323"/>
            <a:ext cx="10515600" cy="786574"/>
          </a:xfrm>
        </p:spPr>
        <p:txBody>
          <a:bodyPr>
            <a:normAutofit fontScale="90000"/>
          </a:bodyPr>
          <a:lstStyle/>
          <a:p>
            <a:r>
              <a:rPr lang="en-GB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E5CB5-9285-99BC-AC71-6C1C0DB198F1}"/>
              </a:ext>
            </a:extLst>
          </p:cNvPr>
          <p:cNvSpPr txBox="1"/>
          <p:nvPr/>
        </p:nvSpPr>
        <p:spPr>
          <a:xfrm>
            <a:off x="658368" y="1673352"/>
            <a:ext cx="9189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 will call homes/</a:t>
            </a:r>
            <a:r>
              <a:rPr lang="en-GB" sz="2400" dirty="0" err="1"/>
              <a:t>apts</a:t>
            </a:r>
            <a:r>
              <a:rPr lang="en-GB" sz="2400" dirty="0"/>
              <a:t> that are available for 250 days of the next year “high availability homes/</a:t>
            </a:r>
            <a:r>
              <a:rPr lang="en-GB" sz="2400" dirty="0" err="1"/>
              <a:t>apts</a:t>
            </a:r>
            <a:r>
              <a:rPr lang="en-GB" sz="2400" dirty="0"/>
              <a:t>”.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0A98B9C8-E465-A614-CDC5-F1F8DE2B6F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478583"/>
              </p:ext>
            </p:extLst>
          </p:nvPr>
        </p:nvGraphicFramePr>
        <p:xfrm>
          <a:off x="310641" y="2962276"/>
          <a:ext cx="11309859" cy="2789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739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379D-866D-4626-37DC-772E3220A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824" y="410782"/>
            <a:ext cx="9144000" cy="1344169"/>
          </a:xfrm>
        </p:spPr>
        <p:txBody>
          <a:bodyPr/>
          <a:lstStyle/>
          <a:p>
            <a:pPr algn="l"/>
            <a:r>
              <a:rPr lang="en-GB" dirty="0"/>
              <a:t>Recommendation</a:t>
            </a:r>
          </a:p>
        </p:txBody>
      </p:sp>
      <p:graphicFrame>
        <p:nvGraphicFramePr>
          <p:cNvPr id="21" name="Text Placeholder 2">
            <a:extLst>
              <a:ext uri="{FF2B5EF4-FFF2-40B4-BE49-F238E27FC236}">
                <a16:creationId xmlns:a16="http://schemas.microsoft.com/office/drawing/2014/main" id="{4BD99D2E-A6CE-2BE3-A6ED-D28972CEF1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1063523"/>
              </p:ext>
            </p:extLst>
          </p:nvPr>
        </p:nvGraphicFramePr>
        <p:xfrm>
          <a:off x="194246" y="2610610"/>
          <a:ext cx="11803508" cy="4247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028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02092F-2AB5-3064-AC64-0C8FE0631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45" r="1" b="25663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65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E4E87-59D8-1BDC-43EF-C0AD8A41E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32FD0-85C6-8C89-4351-52A75D63C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marL="457200" indent="-457200" algn="l">
              <a:buAutoNum type="arabicPeriod"/>
            </a:pPr>
            <a:r>
              <a:rPr lang="en-GB" dirty="0"/>
              <a:t>Missing prices and reviews for some homes\apts.</a:t>
            </a:r>
          </a:p>
          <a:p>
            <a:pPr marL="457200" indent="-457200" algn="l">
              <a:buAutoNum type="arabicPeriod"/>
            </a:pPr>
            <a:r>
              <a:rPr lang="en-GB" dirty="0"/>
              <a:t>There is a columns called neighbourhood with all of it values missing which could have been better than region.  </a:t>
            </a:r>
          </a:p>
        </p:txBody>
      </p:sp>
    </p:spTree>
    <p:extLst>
      <p:ext uri="{BB962C8B-B14F-4D97-AF65-F5344CB8AC3E}">
        <p14:creationId xmlns:p14="http://schemas.microsoft.com/office/powerpoint/2010/main" val="216892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257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New Zealand Airbnb dataset</vt:lpstr>
      <vt:lpstr>Problem statement </vt:lpstr>
      <vt:lpstr>objectives</vt:lpstr>
      <vt:lpstr>Recommendation</vt:lpstr>
      <vt:lpstr>PowerPoint Presentation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MURTADHA A.ADHIM A. YOUSUF</dc:creator>
  <cp:lastModifiedBy>MURTADHA A.ADHIM A. YOUSUF</cp:lastModifiedBy>
  <cp:revision>4</cp:revision>
  <dcterms:created xsi:type="dcterms:W3CDTF">2026-09-09T17:12:42Z</dcterms:created>
  <dcterms:modified xsi:type="dcterms:W3CDTF">2026-09-13T16:59:49Z</dcterms:modified>
</cp:coreProperties>
</file>